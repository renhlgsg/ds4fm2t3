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e46d42c-1421-04c1-1cb0-a5d17fd0ac51}">
          <p14:sldIdLst>
            <p14:sldId id="256"/>
          </p14:sldIdLst>
        </p14:section>
        <p14:section name="Summary" id="{31953f29-9cb1-d976-527c-1594a41c1974}">
          <p14:sldIdLst>
            <p14:sldId id="257"/>
          </p14:sldIdLst>
        </p14:section>
        <p14:section name="Solution" id="{50a9d6f6-b568-3ae1-002b-eca9c8b6c124}">
          <p14:sldIdLst>
            <p14:sldId id="258"/>
            <p14:sldId id="259"/>
          </p14:sldIdLst>
        </p14:section>
        <p14:section name="Findings" id="{0f03e23f-edad-01e8-5ed9-ce4a7190c267}">
          <p14:sldIdLst>
            <p14:sldId id="260"/>
            <p14:sldId id="261"/>
            <p14:sldId id="262"/>
            <p14:sldId id="263"/>
            <p14:sldId id="264"/>
          </p14:sldIdLst>
        </p14:section>
        <p14:section name="Trust" id="{ebf3286e-0998-98bb-4cc3-920bc872771b}">
          <p14:sldIdLst>
            <p14:sldId id="265"/>
          </p14:sldIdLst>
        </p14:section>
        <p14:section name="Next steps" id="{46bc5035-3759-b17e-e288-17d1b721ba9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0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5606E"/>
                </a:solidFill>
                <a:latin typeface="+mn-lt"/>
              </a:rPr>
              <a:t>Monthly revenue, BRL thousand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(BRL k)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Oct 16</c:v>
                  </c:pt>
                  <c:pt idx="1">
                    <c:v>Jan 17</c:v>
                  </c:pt>
                  <c:pt idx="2">
                    <c:v>Feb 17</c:v>
                  </c:pt>
                  <c:pt idx="3">
                    <c:v>Mar 17</c:v>
                  </c:pt>
                  <c:pt idx="4">
                    <c:v>Apr 17</c:v>
                  </c:pt>
                  <c:pt idx="5">
                    <c:v>May 17</c:v>
                  </c:pt>
                  <c:pt idx="6">
                    <c:v>Jun 17</c:v>
                  </c:pt>
                  <c:pt idx="7">
                    <c:v>Jul 17</c:v>
                  </c:pt>
                  <c:pt idx="8">
                    <c:v>Aug 17</c:v>
                  </c:pt>
                  <c:pt idx="9">
                    <c:v>Sep 17</c:v>
                  </c:pt>
                  <c:pt idx="10">
                    <c:v>Oct 17</c:v>
                  </c:pt>
                  <c:pt idx="11">
                    <c:v>Nov 17</c:v>
                  </c:pt>
                  <c:pt idx="12">
                    <c:v>Dec 17</c:v>
                  </c:pt>
                  <c:pt idx="13">
                    <c:v>Jan 18</c:v>
                  </c:pt>
                  <c:pt idx="14">
                    <c:v>Feb 18</c:v>
                  </c:pt>
                  <c:pt idx="15">
                    <c:v>Mar 18</c:v>
                  </c:pt>
                  <c:pt idx="16">
                    <c:v>Apr 18</c:v>
                  </c:pt>
                  <c:pt idx="17">
                    <c:v>May 18</c:v>
                  </c:pt>
                  <c:pt idx="18">
                    <c:v>Jun 18</c:v>
                  </c:pt>
                  <c:pt idx="19">
                    <c:v>Jul 18</c:v>
                  </c:pt>
                  <c:pt idx="20">
                    <c:v>Aug 18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44.5</c:v>
                </c:pt>
                <c:pt idx="1">
                  <c:v>120.1</c:v>
                </c:pt>
                <c:pt idx="2">
                  <c:v>245</c:v>
                </c:pt>
                <c:pt idx="3">
                  <c:v>368.3</c:v>
                </c:pt>
                <c:pt idx="4">
                  <c:v>353.8</c:v>
                </c:pt>
                <c:pt idx="5">
                  <c:v>503.2</c:v>
                </c:pt>
                <c:pt idx="6">
                  <c:v>429.9</c:v>
                </c:pt>
                <c:pt idx="7">
                  <c:v>492.3</c:v>
                </c:pt>
                <c:pt idx="8">
                  <c:v>568.2</c:v>
                </c:pt>
                <c:pt idx="9">
                  <c:v>621.4</c:v>
                </c:pt>
                <c:pt idx="10">
                  <c:v>660.2</c:v>
                </c:pt>
                <c:pt idx="11">
                  <c:v>1003.9</c:v>
                </c:pt>
                <c:pt idx="12">
                  <c:v>742.2</c:v>
                </c:pt>
                <c:pt idx="13">
                  <c:v>945.5</c:v>
                </c:pt>
                <c:pt idx="14">
                  <c:v>837.9</c:v>
                </c:pt>
                <c:pt idx="15">
                  <c:v>981.1</c:v>
                </c:pt>
                <c:pt idx="16">
                  <c:v>993.6</c:v>
                </c:pt>
                <c:pt idx="17">
                  <c:v>992.9</c:v>
                </c:pt>
                <c:pt idx="18">
                  <c:v>863.3</c:v>
                </c:pt>
                <c:pt idx="19">
                  <c:v>878</c:v>
                </c:pt>
                <c:pt idx="20">
                  <c:v>848.9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3-month average</c:v>
                </c:pt>
              </c:strCache>
            </c:strRef>
          </c:tx>
          <c:spPr>
            <a:solidFill>
              <a:srgbClr val="F28C28"/>
            </a:solidFill>
            <a:ln w="3175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Oct 16</c:v>
                  </c:pt>
                  <c:pt idx="1">
                    <c:v>Jan 17</c:v>
                  </c:pt>
                  <c:pt idx="2">
                    <c:v>Feb 17</c:v>
                  </c:pt>
                  <c:pt idx="3">
                    <c:v>Mar 17</c:v>
                  </c:pt>
                  <c:pt idx="4">
                    <c:v>Apr 17</c:v>
                  </c:pt>
                  <c:pt idx="5">
                    <c:v>May 17</c:v>
                  </c:pt>
                  <c:pt idx="6">
                    <c:v>Jun 17</c:v>
                  </c:pt>
                  <c:pt idx="7">
                    <c:v>Jul 17</c:v>
                  </c:pt>
                  <c:pt idx="8">
                    <c:v>Aug 17</c:v>
                  </c:pt>
                  <c:pt idx="9">
                    <c:v>Sep 17</c:v>
                  </c:pt>
                  <c:pt idx="10">
                    <c:v>Oct 17</c:v>
                  </c:pt>
                  <c:pt idx="11">
                    <c:v>Nov 17</c:v>
                  </c:pt>
                  <c:pt idx="12">
                    <c:v>Dec 17</c:v>
                  </c:pt>
                  <c:pt idx="13">
                    <c:v>Jan 18</c:v>
                  </c:pt>
                  <c:pt idx="14">
                    <c:v>Feb 18</c:v>
                  </c:pt>
                  <c:pt idx="15">
                    <c:v>Mar 18</c:v>
                  </c:pt>
                  <c:pt idx="16">
                    <c:v>Apr 18</c:v>
                  </c:pt>
                  <c:pt idx="17">
                    <c:v>May 18</c:v>
                  </c:pt>
                  <c:pt idx="18">
                    <c:v>Jun 18</c:v>
                  </c:pt>
                  <c:pt idx="19">
                    <c:v>Jul 18</c:v>
                  </c:pt>
                  <c:pt idx="20">
                    <c:v>Aug 18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44.5</c:v>
                </c:pt>
                <c:pt idx="1">
                  <c:v>54.9</c:v>
                </c:pt>
                <c:pt idx="2">
                  <c:v>121.7</c:v>
                </c:pt>
                <c:pt idx="3">
                  <c:v>244.5</c:v>
                </c:pt>
                <c:pt idx="4">
                  <c:v>322.4</c:v>
                </c:pt>
                <c:pt idx="5">
                  <c:v>408.4</c:v>
                </c:pt>
                <c:pt idx="6">
                  <c:v>429</c:v>
                </c:pt>
                <c:pt idx="7">
                  <c:v>475.1</c:v>
                </c:pt>
                <c:pt idx="8">
                  <c:v>496.8</c:v>
                </c:pt>
                <c:pt idx="9">
                  <c:v>560.6</c:v>
                </c:pt>
                <c:pt idx="10">
                  <c:v>616.6</c:v>
                </c:pt>
                <c:pt idx="11">
                  <c:v>761.8</c:v>
                </c:pt>
                <c:pt idx="12">
                  <c:v>802.1</c:v>
                </c:pt>
                <c:pt idx="13">
                  <c:v>897.2</c:v>
                </c:pt>
                <c:pt idx="14">
                  <c:v>841.8</c:v>
                </c:pt>
                <c:pt idx="15">
                  <c:v>921.5</c:v>
                </c:pt>
                <c:pt idx="16">
                  <c:v>937.5</c:v>
                </c:pt>
                <c:pt idx="17">
                  <c:v>989.2</c:v>
                </c:pt>
                <c:pt idx="18">
                  <c:v>949.9</c:v>
                </c:pt>
                <c:pt idx="19">
                  <c:v>911.4</c:v>
                </c:pt>
                <c:pt idx="20">
                  <c:v>863.4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9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0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5606E"/>
                </a:solidFill>
                <a:latin typeface="+mn-lt"/>
              </a:rPr>
              <a:t>Top 10 categories, % of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(%)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5606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garden_tools</c:v>
                  </c:pt>
                  <c:pt idx="1">
                    <c:v>auto</c:v>
                  </c:pt>
                  <c:pt idx="2">
                    <c:v>cool_stuff</c:v>
                  </c:pt>
                  <c:pt idx="3">
                    <c:v>housewares</c:v>
                  </c:pt>
                  <c:pt idx="4">
                    <c:v>furniture_decor</c:v>
                  </c:pt>
                  <c:pt idx="5">
                    <c:v>computers_accessories</c:v>
                  </c:pt>
                  <c:pt idx="6">
                    <c:v>sports_leisure</c:v>
                  </c:pt>
                  <c:pt idx="7">
                    <c:v>bed_bath_table</c:v>
                  </c:pt>
                  <c:pt idx="8">
                    <c:v>watches_gifts</c:v>
                  </c:pt>
                  <c:pt idx="9">
                    <c:v>health_beauty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3.56</c:v>
                </c:pt>
                <c:pt idx="1">
                  <c:v>4.35</c:v>
                </c:pt>
                <c:pt idx="2">
                  <c:v>4.6</c:v>
                </c:pt>
                <c:pt idx="3">
                  <c:v>4.65</c:v>
                </c:pt>
                <c:pt idx="4">
                  <c:v>5.39</c:v>
                </c:pt>
                <c:pt idx="5">
                  <c:v>6.7</c:v>
                </c:pt>
                <c:pt idx="6">
                  <c:v>7.26</c:v>
                </c:pt>
                <c:pt idx="7">
                  <c:v>7.68</c:v>
                </c:pt>
                <c:pt idx="8">
                  <c:v>8.88</c:v>
                </c:pt>
                <c:pt idx="9">
                  <c:v>9.31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55606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8A97A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06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Big-ticket one-time</c:v>
                  </c:pt>
                  <c:pt idx="1">
                    <c:v>Recent one-time</c:v>
                  </c:pt>
                  <c:pt idx="2">
                    <c:v>Lapsed one-time</c:v>
                  </c:pt>
                  <c:pt idx="3">
                    <c:v>New high-value</c:v>
                  </c:pt>
                  <c:pt idx="4">
                    <c:v>Loyal repeat</c:v>
                  </c:pt>
                  <c:pt idx="5">
                    <c:v>At-risk repeat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17.24</c:v>
                </c:pt>
                <c:pt idx="1">
                  <c:v>36.8</c:v>
                </c:pt>
                <c:pt idx="2">
                  <c:v>37.07</c:v>
                </c:pt>
                <c:pt idx="3">
                  <c:v>5.85</c:v>
                </c:pt>
                <c:pt idx="4">
                  <c:v>1.67</c:v>
                </c:pt>
                <c:pt idx="5">
                  <c:v>1.37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lifetime revenue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06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Big-ticket one-time</c:v>
                  </c:pt>
                  <c:pt idx="1">
                    <c:v>Recent one-time</c:v>
                  </c:pt>
                  <c:pt idx="2">
                    <c:v>Lapsed one-time</c:v>
                  </c:pt>
                  <c:pt idx="3">
                    <c:v>New high-value</c:v>
                  </c:pt>
                  <c:pt idx="4">
                    <c:v>Loyal repeat</c:v>
                  </c:pt>
                  <c:pt idx="5">
                    <c:v>At-risk repeat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40.54</c:v>
                </c:pt>
                <c:pt idx="1">
                  <c:v>19.9</c:v>
                </c:pt>
                <c:pt idx="2">
                  <c:v>19.77</c:v>
                </c:pt>
                <c:pt idx="3">
                  <c:v>14.13</c:v>
                </c:pt>
                <c:pt idx="4">
                  <c:v>3.16</c:v>
                </c:pt>
                <c:pt idx="5">
                  <c:v>2.49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55606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0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5606E"/>
                </a:solidFill>
                <a:latin typeface="+mn-lt"/>
              </a:rPr>
              <a:t>Avg review score by delivery vs promised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review score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5606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7+ days early</c:v>
                  </c:pt>
                  <c:pt idx="1">
                    <c:v>0-6 days early / on day</c:v>
                  </c:pt>
                  <c:pt idx="2">
                    <c:v>1-7 days late</c:v>
                  </c:pt>
                  <c:pt idx="3">
                    <c:v>8+ days late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4.31</c:v>
                </c:pt>
                <c:pt idx="1">
                  <c:v>4.16</c:v>
                </c:pt>
                <c:pt idx="2">
                  <c:v>2.71</c:v>
                </c:pt>
                <c:pt idx="3">
                  <c:v>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5606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E1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0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5606E"/>
                </a:solidFill>
                <a:latin typeface="+mn-lt"/>
              </a:rPr>
              <a:t>Share of payment value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5D"/>
              </a:solidFill>
              <a:effectLst/>
            </c:spPr>
          </c:dPt>
          <c:dPt>
            <c:idx val="1"/>
            <c:bubble3D val="0"/>
            <c:spPr>
              <a:solidFill>
                <a:srgbClr val="F28C28"/>
              </a:solidFill>
              <a:effectLst/>
            </c:spPr>
          </c:dPt>
          <c:dPt>
            <c:idx val="2"/>
            <c:bubble3D val="0"/>
            <c:spPr>
              <a:solidFill>
                <a:srgbClr val="8A97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Credit Card</c:v>
                </c:pt>
                <c:pt idx="1">
                  <c:v>Boleto</c:v>
                </c:pt>
                <c:pt idx="2">
                  <c:v>Voucher &amp; debit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78.34</c:v>
                </c:pt>
                <c:pt idx="1">
                  <c:v>17.92</c:v>
                </c:pt>
                <c:pt idx="2">
                  <c:v>3.73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e-commerce data warehouse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raw CSV files to a star schema, 126 automated quality checks and five decision-ready findings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ds4fm2t3  |  DuckDB, Python, Dagster,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strong, but retention and delivery speed cap it</a:t>
            </a:r>
            <a:endParaRPr lang="en-US" sz="2800" dirty="0"/>
          </a:p>
        </p:txBody>
      </p:sp>
      <p:sp>
        <p:nvSpPr>
          <p:cNvPr id="3" name="stat-card-0"/>
          <p:cNvSpPr/>
          <p:nvPr/>
        </p:nvSpPr>
        <p:spPr>
          <a:xfrm>
            <a:off x="457200" y="14173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BRL 13.5M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98,199 valid orders</a:t>
            </a:r>
            <a:endParaRPr lang="en-US" sz="1400" dirty="0"/>
          </a:p>
        </p:txBody>
      </p:sp>
      <p:sp>
        <p:nvSpPr>
          <p:cNvPr id="6" name="stat-card-1"/>
          <p:cNvSpPr/>
          <p:nvPr/>
        </p:nvSpPr>
        <p:spPr>
          <a:xfrm>
            <a:off x="2542032" y="14173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33472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+138%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Jan-Aug 2018 revenue vs Jan-Aug 2017</a:t>
            </a:r>
            <a:endParaRPr lang="en-US" sz="1400" dirty="0"/>
          </a:p>
        </p:txBody>
      </p:sp>
      <p:sp>
        <p:nvSpPr>
          <p:cNvPr id="9" name="stat-card-2"/>
          <p:cNvSpPr/>
          <p:nvPr/>
        </p:nvSpPr>
        <p:spPr>
          <a:xfrm>
            <a:off x="4626864" y="14173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8304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ever buy a second time</a:t>
            </a:r>
            <a:endParaRPr lang="en-US" sz="1400" dirty="0"/>
          </a:p>
        </p:txBody>
      </p:sp>
      <p:sp>
        <p:nvSpPr>
          <p:cNvPr id="12" name="stat-card-3"/>
          <p:cNvSpPr/>
          <p:nvPr/>
        </p:nvSpPr>
        <p:spPr>
          <a:xfrm>
            <a:off x="6711696" y="14173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03136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vs 4.3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score: late vs on-time delivery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data-quality checks, 0 failures; 9 warnings trace to known source-data anomalies.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retention programme and a regional logistics fix before more acquisition spend.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layers, one schedule</a:t>
            </a:r>
            <a:endParaRPr lang="en-US" sz="2800" dirty="0"/>
          </a:p>
        </p:txBody>
      </p:sp>
      <p:sp>
        <p:nvSpPr>
          <p:cNvPr id="3" name="layer-0"/>
          <p:cNvSpPr/>
          <p:nvPr/>
        </p:nvSpPr>
        <p:spPr>
          <a:xfrm>
            <a:off x="457200" y="14630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5544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CSV files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965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olist_*.csv</a:t>
            </a:r>
            <a:endParaRPr lang="en-US" sz="1200" dirty="0"/>
          </a:p>
        </p:txBody>
      </p:sp>
      <p:sp>
        <p:nvSpPr>
          <p:cNvPr id="6" name="arrow-0"/>
          <p:cNvSpPr/>
          <p:nvPr/>
        </p:nvSpPr>
        <p:spPr>
          <a:xfrm>
            <a:off x="1938528" y="1874520"/>
            <a:ext cx="201168" cy="256032"/>
          </a:xfrm>
          <a:prstGeom prst="rightArrow">
            <a:avLst/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7" name="layer-1"/>
          <p:cNvSpPr/>
          <p:nvPr/>
        </p:nvSpPr>
        <p:spPr>
          <a:xfrm>
            <a:off x="2157984" y="14630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3E8EB8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1136" y="15544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RDL_DATA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1965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1:1 with files</a:t>
            </a:r>
            <a:endParaRPr lang="en-US" sz="1200" dirty="0"/>
          </a:p>
        </p:txBody>
      </p:sp>
      <p:sp>
        <p:nvSpPr>
          <p:cNvPr id="10" name="arrow-1"/>
          <p:cNvSpPr/>
          <p:nvPr/>
        </p:nvSpPr>
        <p:spPr>
          <a:xfrm>
            <a:off x="3639312" y="1874520"/>
            <a:ext cx="201168" cy="256032"/>
          </a:xfrm>
          <a:prstGeom prst="rightArrow">
            <a:avLst/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11" name="layer-2"/>
          <p:cNvSpPr/>
          <p:nvPr/>
        </p:nvSpPr>
        <p:spPr>
          <a:xfrm>
            <a:off x="3858768" y="14630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3E8EB8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5544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SDL_DATA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965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PKs enforced</a:t>
            </a:r>
            <a:endParaRPr lang="en-US" sz="1200" dirty="0"/>
          </a:p>
        </p:txBody>
      </p:sp>
      <p:sp>
        <p:nvSpPr>
          <p:cNvPr id="14" name="arrow-2"/>
          <p:cNvSpPr/>
          <p:nvPr/>
        </p:nvSpPr>
        <p:spPr>
          <a:xfrm>
            <a:off x="5340096" y="1874520"/>
            <a:ext cx="201168" cy="256032"/>
          </a:xfrm>
          <a:prstGeom prst="rightArrow">
            <a:avLst/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15" name="layer-3"/>
          <p:cNvSpPr/>
          <p:nvPr/>
        </p:nvSpPr>
        <p:spPr>
          <a:xfrm>
            <a:off x="5559552" y="14630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32704" y="15544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FDL_DATA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32704" y="1965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6 dims + 4 facts</a:t>
            </a:r>
            <a:endParaRPr lang="en-US" sz="1200" dirty="0"/>
          </a:p>
        </p:txBody>
      </p:sp>
      <p:sp>
        <p:nvSpPr>
          <p:cNvPr id="18" name="arrow-3"/>
          <p:cNvSpPr/>
          <p:nvPr/>
        </p:nvSpPr>
        <p:spPr>
          <a:xfrm>
            <a:off x="7040880" y="1874520"/>
            <a:ext cx="201168" cy="256032"/>
          </a:xfrm>
          <a:prstGeom prst="rightArrow">
            <a:avLst/>
          </a:prstGeom>
          <a:solidFill>
            <a:srgbClr val="8A97A5"/>
          </a:solidFill>
          <a:ln w="12700">
            <a:solidFill>
              <a:srgbClr val="8A97A5"/>
            </a:solidFill>
            <a:prstDash val="solid"/>
          </a:ln>
        </p:spPr>
      </p:sp>
      <p:sp>
        <p:nvSpPr>
          <p:cNvPr id="19" name="layer-4"/>
          <p:cNvSpPr/>
          <p:nvPr/>
        </p:nvSpPr>
        <p:spPr>
          <a:xfrm>
            <a:off x="7260336" y="14630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3488" y="15544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1965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notebooks, slides</a:t>
            </a:r>
            <a:endParaRPr lang="en-US" sz="1200" dirty="0"/>
          </a:p>
        </p:txBody>
      </p:sp>
      <p:sp>
        <p:nvSpPr>
          <p:cNvPr id="22" name="dagster-band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schedule  0 4 * * *  -  ingest, clean, incremental ELT, data-quality gate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by design: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row-hash change detection inserts new rows and updates changed ones; a re-run with no new data changes nothing.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test: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partial load plus an incremental top-up equals a one-shot full load.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facts share six conformed dimensions</a:t>
            </a:r>
            <a:endParaRPr lang="en-US" sz="2800" dirty="0"/>
          </a:p>
        </p:txBody>
      </p:sp>
      <p:sp>
        <p:nvSpPr>
          <p:cNvPr id="3" name="fact-0"/>
          <p:cNvSpPr/>
          <p:nvPr/>
        </p:nvSpPr>
        <p:spPr>
          <a:xfrm>
            <a:off x="457200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F_ORDER_ITEMS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order item</a:t>
            </a:r>
            <a:endParaRPr lang="en-US" sz="1200" dirty="0"/>
          </a:p>
        </p:txBody>
      </p:sp>
      <p:sp>
        <p:nvSpPr>
          <p:cNvPr id="6" name="fact-1"/>
          <p:cNvSpPr/>
          <p:nvPr/>
        </p:nvSpPr>
        <p:spPr>
          <a:xfrm>
            <a:off x="2542032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7752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order</a:t>
            </a:r>
            <a:endParaRPr lang="en-US" sz="1200" dirty="0"/>
          </a:p>
        </p:txBody>
      </p:sp>
      <p:sp>
        <p:nvSpPr>
          <p:cNvPr id="9" name="fact-2"/>
          <p:cNvSpPr/>
          <p:nvPr/>
        </p:nvSpPr>
        <p:spPr>
          <a:xfrm>
            <a:off x="4626864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2584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F_ORDER_PAYMENTS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payment</a:t>
            </a:r>
            <a:endParaRPr lang="en-US" sz="1200" dirty="0"/>
          </a:p>
        </p:txBody>
      </p:sp>
      <p:sp>
        <p:nvSpPr>
          <p:cNvPr id="12" name="fact-3"/>
          <p:cNvSpPr/>
          <p:nvPr/>
        </p:nvSpPr>
        <p:spPr>
          <a:xfrm>
            <a:off x="6711696" y="13716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7416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F_ORDER_REVIEWS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57416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review</a:t>
            </a:r>
            <a:endParaRPr lang="en-US" sz="1200" dirty="0"/>
          </a:p>
        </p:txBody>
      </p:sp>
      <p:sp>
        <p:nvSpPr>
          <p:cNvPr id="15" name="dim-0"/>
          <p:cNvSpPr/>
          <p:nvPr/>
        </p:nvSpPr>
        <p:spPr>
          <a:xfrm>
            <a:off x="4572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D_DATE</a:t>
            </a:r>
            <a:endParaRPr lang="en-US" sz="1200" dirty="0"/>
          </a:p>
        </p:txBody>
      </p:sp>
      <p:sp>
        <p:nvSpPr>
          <p:cNvPr id="17" name="dim-1"/>
          <p:cNvSpPr/>
          <p:nvPr/>
        </p:nvSpPr>
        <p:spPr>
          <a:xfrm>
            <a:off x="18288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562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D_CUSTOMER</a:t>
            </a:r>
            <a:endParaRPr lang="en-US" sz="1200" dirty="0"/>
          </a:p>
        </p:txBody>
      </p:sp>
      <p:sp>
        <p:nvSpPr>
          <p:cNvPr id="19" name="dim-2"/>
          <p:cNvSpPr/>
          <p:nvPr/>
        </p:nvSpPr>
        <p:spPr>
          <a:xfrm>
            <a:off x="32004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278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D_PRODUCT</a:t>
            </a:r>
            <a:endParaRPr lang="en-US" sz="1200" dirty="0"/>
          </a:p>
        </p:txBody>
      </p:sp>
      <p:sp>
        <p:nvSpPr>
          <p:cNvPr id="21" name="dim-3"/>
          <p:cNvSpPr/>
          <p:nvPr/>
        </p:nvSpPr>
        <p:spPr>
          <a:xfrm>
            <a:off x="45720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94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D_SELLER</a:t>
            </a:r>
            <a:endParaRPr lang="en-US" sz="1200" dirty="0"/>
          </a:p>
        </p:txBody>
      </p:sp>
      <p:sp>
        <p:nvSpPr>
          <p:cNvPr id="23" name="dim-4"/>
          <p:cNvSpPr/>
          <p:nvPr/>
        </p:nvSpPr>
        <p:spPr>
          <a:xfrm>
            <a:off x="59436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710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D_GEOGRAPHY</a:t>
            </a:r>
            <a:endParaRPr lang="en-US" sz="1200" dirty="0"/>
          </a:p>
        </p:txBody>
      </p:sp>
      <p:sp>
        <p:nvSpPr>
          <p:cNvPr id="25" name="dim-5"/>
          <p:cNvSpPr/>
          <p:nvPr/>
        </p:nvSpPr>
        <p:spPr>
          <a:xfrm>
            <a:off x="7315200" y="2834640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AF1F6"/>
          </a:solidFill>
          <a:ln w="12700">
            <a:solidFill>
              <a:srgbClr val="3E8E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2632" y="28346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D_PAYMENT_TYPE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has one grain and additive measures; customers are keyed on the real person (unique id), not the per-order id, so lifetime value is correct.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total_sale_amount, customer_lifetime_value, delivery_days, is_late, review flags and more.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grew 138% year on year, then plateaued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3716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2017-11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7,421 orders, BRL 1,003,862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early 2018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has stayed between BRL 0.84M and 0.99M; growth has stalled.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Sep-2016, Dec-2016 and Sep-2018 hold under 100 orders and are excluded.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findings/f1_monthly_sales_trend.py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broad across categories, concentrated in sellers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148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the top 10% of 3,053 sellers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3108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exceeds 10% of revenue; the top five together make up 40%.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findings/f2_top_products.py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of customers buy once; one-time big spenders matter most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8016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3716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Big-ticket one-time buyers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customers deliver 41% of revenue.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BRL 308 each vs BRL 161 for one-time buyers, yet only 3.04% of customers.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findings/f3_customer_segmentation.py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halves the review score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→ 2.3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057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score, on-time vs late; 62% of late orders get a 1-2 star review (9% when on time)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3291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matters: AL waits 25 days on average, SP just 9.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findings/f4_delivery_and_reviews.py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 dominate payment; the Southeast dominates demand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75488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21031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paid by credit card, in 3.5 instalments on average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Southeast; SP alone is 38%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Instalments are widely used, so card-partner offers are worth testing as a conversion lever.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findings/f5_payments_and_geography.py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 automated checks pass; 9 warnings are source-data defects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anomaly found by the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hand-over dated before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differ from items + freight by more than 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hand-over dated before purchase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dated before carrier hand-over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marked delivered but no delivery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handled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(keys, grain, totals, referential integrity) fail the run. Known source defects are reported, not hidden, and never silently dropped.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stored in FDL_DATA.DQ_RESULT_LOG and shown in the dashboard.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pipeline/dq_tests.py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3600" dirty="0"/>
          </a:p>
        </p:txBody>
      </p:sp>
      <p:sp>
        <p:nvSpPr>
          <p:cNvPr id="3" name="rec-badge-1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retention programme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8366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3.04% repeat rate: target big-ticket one-time buyers with a second-purchase offer.</a:t>
            </a:r>
            <a:endParaRPr lang="en-US" sz="1400" dirty="0"/>
          </a:p>
        </p:txBody>
      </p:sp>
      <p:sp>
        <p:nvSpPr>
          <p:cNvPr id="7" name="rec-badge-2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regional delivery promises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4378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Re-set estimates and add carriers for the North and Northeast, where waits are 2-3x longer.</a:t>
            </a:r>
            <a:endParaRPr lang="en-US" sz="1400" dirty="0"/>
          </a:p>
        </p:txBody>
      </p:sp>
      <p:sp>
        <p:nvSpPr>
          <p:cNvPr id="11" name="rec-badge-3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seller concentration risk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0390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develop mid-tier sellers; two thirds of revenue sits with the top 10%.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st Ocean">
  <a:themeElements>
    <a:clrScheme name="Olist Ocean">
      <a:dk1>
        <a:srgbClr val="1B2430"/>
      </a:dk1>
      <a:lt1>
        <a:srgbClr val="FFFFFF"/>
      </a:lt1>
      <a:dk2>
        <a:srgbClr val="0B3C5D"/>
      </a:dk2>
      <a:lt2>
        <a:srgbClr val="EAF1F6"/>
      </a:lt2>
      <a:accent1>
        <a:srgbClr val="0B3C5D"/>
      </a:accent1>
      <a:accent2>
        <a:srgbClr val="F28C28"/>
      </a:accent2>
      <a:accent3>
        <a:srgbClr val="3E8EB8"/>
      </a:accent3>
      <a:accent4>
        <a:srgbClr val="2E8B57"/>
      </a:accent4>
      <a:accent5>
        <a:srgbClr val="C0392B"/>
      </a:accent5>
      <a:accent6>
        <a:srgbClr val="8A97A5"/>
      </a:accent6>
      <a:hlink>
        <a:srgbClr val="3E8EB8"/>
      </a:hlink>
      <a:folHlink>
        <a:srgbClr val="8A97A5"/>
      </a:folHlink>
    </a:clrScheme>
    <a:fontScheme name="Olist Oc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data warehouse - executive summary</dc:title>
  <dc:subject>PptxGenJS Presentation</dc:subject>
  <dc:creator>PptxGenJS</dc:creator>
  <cp:lastModifiedBy>PptxGenJS</cp:lastModifiedBy>
  <cp:revision>1</cp:revision>
  <dcterms:created xsi:type="dcterms:W3CDTF">2026-10-11T02:48:30Z</dcterms:created>
  <dcterms:modified xsi:type="dcterms:W3CDTF">2026-10-11T02:48:30Z</dcterms:modified>
</cp:coreProperties>
</file>